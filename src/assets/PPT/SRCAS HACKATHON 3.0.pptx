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Cambria" panose="02040503050406030204" pitchFamily="18" charset="0"/>
      <p:regular r:id="rId11"/>
      <p:bold r:id="rId12"/>
      <p:italic r:id="rId13"/>
      <p:boldItalic r:id="rId14"/>
    </p:embeddedFont>
    <p:embeddedFont>
      <p:font typeface="Cambria Bold" panose="020408030504060302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54843" y="3549244"/>
            <a:ext cx="14386127" cy="4388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endParaRPr/>
          </a:p>
          <a:p>
            <a:pPr algn="just">
              <a:lnSpc>
                <a:spcPts val="4313"/>
              </a:lnSpc>
            </a:pPr>
            <a:r>
              <a:rPr lang="en-US" sz="3451">
                <a:solidFill>
                  <a:srgbClr val="0B533D"/>
                </a:solidFill>
                <a:latin typeface="Cambria"/>
                <a:ea typeface="Cambria"/>
                <a:cs typeface="Cambria"/>
                <a:sym typeface="Cambria"/>
              </a:rPr>
              <a:t>Problem Statement Title: </a:t>
            </a:r>
          </a:p>
          <a:p>
            <a:pPr algn="just">
              <a:lnSpc>
                <a:spcPts val="4313"/>
              </a:lnSpc>
            </a:pPr>
            <a:endParaRPr lang="en-US" sz="3451">
              <a:solidFill>
                <a:srgbClr val="0B53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just">
              <a:lnSpc>
                <a:spcPts val="4313"/>
              </a:lnSpc>
            </a:pPr>
            <a:r>
              <a:rPr lang="en-US" sz="3451">
                <a:solidFill>
                  <a:srgbClr val="0B533D"/>
                </a:solidFill>
                <a:latin typeface="Cambria"/>
                <a:ea typeface="Cambria"/>
                <a:cs typeface="Cambria"/>
                <a:sym typeface="Cambria"/>
              </a:rPr>
              <a:t>Team Name: </a:t>
            </a:r>
          </a:p>
          <a:p>
            <a:pPr algn="just">
              <a:lnSpc>
                <a:spcPts val="4313"/>
              </a:lnSpc>
            </a:pPr>
            <a:endParaRPr lang="en-US" sz="3451">
              <a:solidFill>
                <a:srgbClr val="0B53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l">
              <a:lnSpc>
                <a:spcPts val="4472"/>
              </a:lnSpc>
            </a:pPr>
            <a:r>
              <a:rPr lang="en-US" sz="3451">
                <a:solidFill>
                  <a:srgbClr val="0B533D"/>
                </a:solidFill>
                <a:latin typeface="Cambria"/>
                <a:ea typeface="Cambria"/>
                <a:cs typeface="Cambria"/>
                <a:sym typeface="Cambria"/>
              </a:rPr>
              <a:t>Team Leader Name: </a:t>
            </a:r>
          </a:p>
          <a:p>
            <a:pPr algn="l">
              <a:lnSpc>
                <a:spcPts val="4472"/>
              </a:lnSpc>
            </a:pPr>
            <a:endParaRPr lang="en-US" sz="3451">
              <a:solidFill>
                <a:srgbClr val="0B53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l">
              <a:lnSpc>
                <a:spcPts val="4472"/>
              </a:lnSpc>
            </a:pPr>
            <a:r>
              <a:rPr lang="en-US" sz="3451">
                <a:solidFill>
                  <a:srgbClr val="0B533D"/>
                </a:solidFill>
                <a:latin typeface="Cambria"/>
                <a:ea typeface="Cambria"/>
                <a:cs typeface="Cambria"/>
                <a:sym typeface="Cambria"/>
              </a:rPr>
              <a:t>Institute Name: 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5409211" y="509368"/>
            <a:ext cx="3382175" cy="1375975"/>
            <a:chOff x="0" y="0"/>
            <a:chExt cx="4509567" cy="18346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09516" cy="1834642"/>
            </a:xfrm>
            <a:custGeom>
              <a:avLst/>
              <a:gdLst/>
              <a:ahLst/>
              <a:cxnLst/>
              <a:rect l="l" t="t" r="r" b="b"/>
              <a:pathLst>
                <a:path w="4509516" h="1834642">
                  <a:moveTo>
                    <a:pt x="0" y="0"/>
                  </a:moveTo>
                  <a:lnTo>
                    <a:pt x="4509516" y="0"/>
                  </a:lnTo>
                  <a:lnTo>
                    <a:pt x="4509516" y="1834642"/>
                  </a:lnTo>
                  <a:lnTo>
                    <a:pt x="0" y="1834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089" t="-85592" r="-1" b="-8009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649738" y="537273"/>
            <a:ext cx="4337309" cy="1320168"/>
          </a:xfrm>
          <a:custGeom>
            <a:avLst/>
            <a:gdLst/>
            <a:ahLst/>
            <a:cxnLst/>
            <a:rect l="l" t="t" r="r" b="b"/>
            <a:pathLst>
              <a:path w="4337309" h="1320168">
                <a:moveTo>
                  <a:pt x="0" y="0"/>
                </a:moveTo>
                <a:lnTo>
                  <a:pt x="4337309" y="0"/>
                </a:lnTo>
                <a:lnTo>
                  <a:pt x="4337309" y="1320168"/>
                </a:lnTo>
                <a:lnTo>
                  <a:pt x="0" y="1320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0" y="9677400"/>
            <a:ext cx="18288000" cy="609600"/>
            <a:chOff x="0" y="0"/>
            <a:chExt cx="4816593" cy="1605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39FF5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87373" y="2303200"/>
            <a:ext cx="17235300" cy="86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0"/>
              </a:lnSpc>
            </a:pPr>
            <a:r>
              <a:rPr lang="en-US" sz="48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Basic Details of the Team and Problem Statement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08849" y="9741484"/>
            <a:ext cx="5346634" cy="41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SRCAS HACKATHON - 3.0 template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036C189-6F64-D249-3506-DB026DFE08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53" y="702891"/>
            <a:ext cx="4510125" cy="9889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509998E-CCEE-87C7-49DE-871E7F0EB3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0004" y="526936"/>
            <a:ext cx="4220722" cy="15472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76301">
            <a:off x="1086788" y="2021997"/>
            <a:ext cx="3433446" cy="0"/>
          </a:xfrm>
          <a:prstGeom prst="line">
            <a:avLst/>
          </a:prstGeom>
          <a:ln w="57150" cap="rnd">
            <a:solidFill>
              <a:srgbClr val="0B53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839003"/>
            <a:ext cx="8301600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7"/>
              </a:lnSpc>
            </a:pPr>
            <a:r>
              <a:rPr lang="en-US" sz="593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Idea/Approach Details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192775" y="9647168"/>
            <a:ext cx="784800" cy="38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16359"/>
            <a:ext cx="16556475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your core idea and approach – Clearly explain your project.</a:t>
            </a:r>
          </a:p>
          <a:p>
            <a:pPr marL="755651" lvl="1" indent="-377825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How it solves the problem, and key innovation behind your solution.</a:t>
            </a:r>
          </a:p>
        </p:txBody>
      </p:sp>
      <p:sp>
        <p:nvSpPr>
          <p:cNvPr id="6" name="Freeform 6"/>
          <p:cNvSpPr/>
          <p:nvPr/>
        </p:nvSpPr>
        <p:spPr>
          <a:xfrm>
            <a:off x="13657487" y="437420"/>
            <a:ext cx="4173313" cy="1270252"/>
          </a:xfrm>
          <a:custGeom>
            <a:avLst/>
            <a:gdLst/>
            <a:ahLst/>
            <a:cxnLst/>
            <a:rect l="l" t="t" r="r" b="b"/>
            <a:pathLst>
              <a:path w="4173313" h="1270252">
                <a:moveTo>
                  <a:pt x="0" y="0"/>
                </a:moveTo>
                <a:lnTo>
                  <a:pt x="4173313" y="0"/>
                </a:lnTo>
                <a:lnTo>
                  <a:pt x="4173313" y="1270252"/>
                </a:lnTo>
                <a:lnTo>
                  <a:pt x="0" y="1270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9677400"/>
            <a:ext cx="18288000" cy="609600"/>
            <a:chOff x="0" y="0"/>
            <a:chExt cx="4816593" cy="1605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39FF5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208849" y="9741484"/>
            <a:ext cx="5346634" cy="41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SRCAS HACKATHON - 3.0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76301">
            <a:off x="1086788" y="2021997"/>
            <a:ext cx="3433446" cy="0"/>
          </a:xfrm>
          <a:prstGeom prst="line">
            <a:avLst/>
          </a:prstGeom>
          <a:ln w="57150" cap="rnd">
            <a:solidFill>
              <a:srgbClr val="0B53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839003"/>
            <a:ext cx="8301600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7"/>
              </a:lnSpc>
            </a:pPr>
            <a:r>
              <a:rPr lang="en-US" sz="593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Idea/Approach Details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192775" y="9647168"/>
            <a:ext cx="784800" cy="38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</a:p>
        </p:txBody>
      </p:sp>
      <p:sp>
        <p:nvSpPr>
          <p:cNvPr id="5" name="Freeform 5"/>
          <p:cNvSpPr/>
          <p:nvPr/>
        </p:nvSpPr>
        <p:spPr>
          <a:xfrm>
            <a:off x="13657487" y="437420"/>
            <a:ext cx="4173313" cy="1270252"/>
          </a:xfrm>
          <a:custGeom>
            <a:avLst/>
            <a:gdLst/>
            <a:ahLst/>
            <a:cxnLst/>
            <a:rect l="l" t="t" r="r" b="b"/>
            <a:pathLst>
              <a:path w="4173313" h="1270252">
                <a:moveTo>
                  <a:pt x="0" y="0"/>
                </a:moveTo>
                <a:lnTo>
                  <a:pt x="4173313" y="0"/>
                </a:lnTo>
                <a:lnTo>
                  <a:pt x="4173313" y="1270252"/>
                </a:lnTo>
                <a:lnTo>
                  <a:pt x="0" y="1270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9677400"/>
            <a:ext cx="18288000" cy="609600"/>
            <a:chOff x="0" y="0"/>
            <a:chExt cx="4816593" cy="1605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39FF5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208849" y="9741484"/>
            <a:ext cx="5346634" cy="41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SRCAS HACKATHON - 3.0 template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030609"/>
            <a:ext cx="16556475" cy="319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 your flowchart – Add a simple process flow diagram showing how your solution works.</a:t>
            </a:r>
          </a:p>
          <a:p>
            <a:pPr marL="755651" lvl="1" indent="-377825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Technical stack - List the main tools, frameworks, or technologies used.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53138" y="1844856"/>
            <a:ext cx="3792910" cy="0"/>
          </a:xfrm>
          <a:prstGeom prst="line">
            <a:avLst/>
          </a:prstGeom>
          <a:ln w="57150" cap="rnd">
            <a:solidFill>
              <a:srgbClr val="0B53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125311" y="785686"/>
            <a:ext cx="8671200" cy="790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3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Feasibility &amp; Viability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89375" y="9639393"/>
            <a:ext cx="784800" cy="38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</a:p>
        </p:txBody>
      </p:sp>
      <p:sp>
        <p:nvSpPr>
          <p:cNvPr id="5" name="Freeform 5"/>
          <p:cNvSpPr/>
          <p:nvPr/>
        </p:nvSpPr>
        <p:spPr>
          <a:xfrm>
            <a:off x="13657487" y="437420"/>
            <a:ext cx="4173313" cy="1270252"/>
          </a:xfrm>
          <a:custGeom>
            <a:avLst/>
            <a:gdLst/>
            <a:ahLst/>
            <a:cxnLst/>
            <a:rect l="l" t="t" r="r" b="b"/>
            <a:pathLst>
              <a:path w="4173313" h="1270252">
                <a:moveTo>
                  <a:pt x="0" y="0"/>
                </a:moveTo>
                <a:lnTo>
                  <a:pt x="4173313" y="0"/>
                </a:lnTo>
                <a:lnTo>
                  <a:pt x="4173313" y="1270252"/>
                </a:lnTo>
                <a:lnTo>
                  <a:pt x="0" y="1270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9677400"/>
            <a:ext cx="18288000" cy="609600"/>
            <a:chOff x="0" y="0"/>
            <a:chExt cx="4816593" cy="1605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39FF5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208849" y="9741484"/>
            <a:ext cx="5346634" cy="41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SRCAS HACKATHON - 3.0 template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030609"/>
            <a:ext cx="16556475" cy="319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the feasibilty of the idea</a:t>
            </a:r>
          </a:p>
          <a:p>
            <a:pPr marL="755651" lvl="1" indent="-377825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Potential challenges and risk</a:t>
            </a:r>
          </a:p>
          <a:p>
            <a:pPr marL="755651" lvl="1" indent="-377825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Stratergies for overcoming these 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76298">
            <a:off x="1152715" y="1854381"/>
            <a:ext cx="3433585" cy="0"/>
          </a:xfrm>
          <a:prstGeom prst="line">
            <a:avLst/>
          </a:prstGeom>
          <a:ln w="57150" cap="rnd">
            <a:solidFill>
              <a:srgbClr val="0B53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125311" y="785686"/>
            <a:ext cx="8671200" cy="790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3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 &amp; Benifits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89375" y="9639393"/>
            <a:ext cx="784800" cy="38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</a:p>
        </p:txBody>
      </p:sp>
      <p:sp>
        <p:nvSpPr>
          <p:cNvPr id="5" name="Freeform 5"/>
          <p:cNvSpPr/>
          <p:nvPr/>
        </p:nvSpPr>
        <p:spPr>
          <a:xfrm>
            <a:off x="13657487" y="437420"/>
            <a:ext cx="4173313" cy="1270252"/>
          </a:xfrm>
          <a:custGeom>
            <a:avLst/>
            <a:gdLst/>
            <a:ahLst/>
            <a:cxnLst/>
            <a:rect l="l" t="t" r="r" b="b"/>
            <a:pathLst>
              <a:path w="4173313" h="1270252">
                <a:moveTo>
                  <a:pt x="0" y="0"/>
                </a:moveTo>
                <a:lnTo>
                  <a:pt x="4173313" y="0"/>
                </a:lnTo>
                <a:lnTo>
                  <a:pt x="4173313" y="1270252"/>
                </a:lnTo>
                <a:lnTo>
                  <a:pt x="0" y="1270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9677400"/>
            <a:ext cx="18288000" cy="609600"/>
            <a:chOff x="0" y="0"/>
            <a:chExt cx="4816593" cy="1605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39FF5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208849" y="9741484"/>
            <a:ext cx="5346634" cy="41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SRCAS HACKATHON - 3.0 template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030609"/>
            <a:ext cx="16556475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impact on target auidence</a:t>
            </a:r>
          </a:p>
          <a:p>
            <a:pPr marL="755651" lvl="1" indent="-377825" algn="l">
              <a:lnSpc>
                <a:spcPts val="8750"/>
              </a:lnSpc>
              <a:buAutoNum type="arabicPeriod"/>
            </a:pPr>
            <a:r>
              <a:rPr lang="en-US" sz="3500">
                <a:solidFill>
                  <a:srgbClr val="0B53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Benifits of the 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76301">
            <a:off x="1312157" y="2578281"/>
            <a:ext cx="3433446" cy="0"/>
          </a:xfrm>
          <a:prstGeom prst="line">
            <a:avLst/>
          </a:prstGeom>
          <a:ln w="57150" cap="rnd">
            <a:solidFill>
              <a:srgbClr val="0B53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446034" y="1299545"/>
            <a:ext cx="9926261" cy="93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3"/>
              </a:lnSpc>
            </a:pPr>
            <a:r>
              <a:rPr lang="en-US" sz="66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Details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6034" y="2635424"/>
            <a:ext cx="5448256" cy="662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2663" b="1">
                <a:solidFill>
                  <a:srgbClr val="0B533D"/>
                </a:solidFill>
                <a:latin typeface="Cambria Bold"/>
                <a:ea typeface="Cambria Bold"/>
                <a:cs typeface="Cambria Bold"/>
                <a:sym typeface="Cambria Bold"/>
              </a:rPr>
              <a:t>Team Leader Name:</a:t>
            </a:r>
          </a:p>
          <a:p>
            <a:pPr algn="l">
              <a:lnSpc>
                <a:spcPts val="6659"/>
              </a:lnSpc>
            </a:pPr>
            <a:r>
              <a:rPr lang="en-US" sz="266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</a:t>
            </a:r>
          </a:p>
          <a:p>
            <a:pPr algn="l">
              <a:lnSpc>
                <a:spcPts val="6659"/>
              </a:lnSpc>
            </a:pPr>
            <a:r>
              <a:rPr lang="en-US" sz="2663" b="1">
                <a:solidFill>
                  <a:srgbClr val="0B533D"/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1 Name: </a:t>
            </a:r>
          </a:p>
          <a:p>
            <a:pPr algn="l">
              <a:lnSpc>
                <a:spcPts val="6659"/>
              </a:lnSpc>
            </a:pPr>
            <a:r>
              <a:rPr lang="en-US" sz="266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 </a:t>
            </a:r>
          </a:p>
          <a:p>
            <a:pPr algn="l">
              <a:lnSpc>
                <a:spcPts val="6659"/>
              </a:lnSpc>
            </a:pPr>
            <a:r>
              <a:rPr lang="en-US" sz="2663" b="1">
                <a:solidFill>
                  <a:srgbClr val="0B533D"/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2 Name: </a:t>
            </a:r>
          </a:p>
          <a:p>
            <a:pPr algn="l">
              <a:lnSpc>
                <a:spcPts val="6659"/>
              </a:lnSpc>
            </a:pPr>
            <a:r>
              <a:rPr lang="en-US" sz="266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</a:t>
            </a:r>
          </a:p>
          <a:p>
            <a:pPr algn="l">
              <a:lnSpc>
                <a:spcPts val="6659"/>
              </a:lnSpc>
            </a:pPr>
            <a:r>
              <a:rPr lang="en-US" sz="2663" b="1">
                <a:solidFill>
                  <a:srgbClr val="0B533D"/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3 Name: </a:t>
            </a:r>
          </a:p>
          <a:p>
            <a:pPr algn="l">
              <a:lnSpc>
                <a:spcPts val="6659"/>
              </a:lnSpc>
            </a:pPr>
            <a:r>
              <a:rPr lang="en-US" sz="266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</a:t>
            </a:r>
          </a:p>
        </p:txBody>
      </p:sp>
      <p:sp>
        <p:nvSpPr>
          <p:cNvPr id="5" name="Freeform 5"/>
          <p:cNvSpPr/>
          <p:nvPr/>
        </p:nvSpPr>
        <p:spPr>
          <a:xfrm>
            <a:off x="13657487" y="437420"/>
            <a:ext cx="4173313" cy="1270252"/>
          </a:xfrm>
          <a:custGeom>
            <a:avLst/>
            <a:gdLst/>
            <a:ahLst/>
            <a:cxnLst/>
            <a:rect l="l" t="t" r="r" b="b"/>
            <a:pathLst>
              <a:path w="4173313" h="1270252">
                <a:moveTo>
                  <a:pt x="0" y="0"/>
                </a:moveTo>
                <a:lnTo>
                  <a:pt x="4173313" y="0"/>
                </a:lnTo>
                <a:lnTo>
                  <a:pt x="4173313" y="1270252"/>
                </a:lnTo>
                <a:lnTo>
                  <a:pt x="0" y="1270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9677400"/>
            <a:ext cx="18288000" cy="609600"/>
            <a:chOff x="0" y="0"/>
            <a:chExt cx="4816593" cy="1605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39FF5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208849" y="9741484"/>
            <a:ext cx="5346634" cy="41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SRCAS HACKATHON - 3.0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231</Words>
  <Application>Microsoft Office PowerPoint</Application>
  <PresentationFormat>Custom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Cambria Bold</vt:lpstr>
      <vt:lpstr>Cambria</vt:lpstr>
      <vt:lpstr>Arial Bold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SRCAS HACKATHON 2.0.potx</dc:title>
  <cp:lastModifiedBy>Udhaya Sankar</cp:lastModifiedBy>
  <cp:revision>2</cp:revision>
  <dcterms:created xsi:type="dcterms:W3CDTF">2006-08-16T00:00:00Z</dcterms:created>
  <dcterms:modified xsi:type="dcterms:W3CDTF">2026-06-04T08:53:02Z</dcterms:modified>
  <dc:identifier>DAG4EuKCp_0</dc:identifier>
</cp:coreProperties>
</file>